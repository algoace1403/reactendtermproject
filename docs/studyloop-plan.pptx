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731520" cy="365760"/>
          </a:xfrm>
          <a:prstGeom prst="roundRect">
            <a:avLst>
              <a:gd name="adj" fmla="val 20000"/>
            </a:avLst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417320" y="5029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StudyLoop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2103120"/>
            <a:ext cx="9144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smarter,</a:t>
            </a:r>
            <a:endParaRPr lang="en-US" sz="6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harder.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548640" y="402336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AI-assisted flashcard app with spaced repetition —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end-term project proposal &amp; build plan.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5760720"/>
            <a:ext cx="11064240" cy="27432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58978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614476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Web Applications with React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303520" y="58978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303520" y="614476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2029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498080" y="589788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498080" y="614476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· Firebase · Tailwind · Vercel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44068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828800"/>
            <a:ext cx="73152" cy="1874520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0574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2468880"/>
            <a:ext cx="5029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cram before exams and forget 70% within a week. No tool turns their own notes into a spaced-repetition system.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172200" y="1828800"/>
            <a:ext cx="544068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72200" y="1828800"/>
            <a:ext cx="73152" cy="187452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1" name="Text 9"/>
          <p:cNvSpPr/>
          <p:nvPr/>
        </p:nvSpPr>
        <p:spPr>
          <a:xfrm>
            <a:off x="6446520" y="20574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46520" y="2468880"/>
            <a:ext cx="5029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StudyLoop — create decks, review flashcards daily, and get smart schedules via the SM-2 algorithm.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3931920"/>
            <a:ext cx="544068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3931920"/>
            <a:ext cx="73152" cy="18745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41605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USERS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2960" y="4572000"/>
            <a:ext cx="5029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 &amp; high-school students preparing for exams, certifications, and long-term courses.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172200" y="3931920"/>
            <a:ext cx="544068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72200" y="3931920"/>
            <a:ext cx="73152" cy="18745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6446520" y="41605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DELIVERABLE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46520" y="4572000"/>
            <a:ext cx="5029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Production-grade React app with Firebase Auth + Firestore, deployed live on Vercel.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StudyLoop · React Batch 2029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784080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22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PROBLEM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students forget what they study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303520" cy="4114800"/>
          </a:xfrm>
          <a:prstGeom prst="roundRect">
            <a:avLst>
              <a:gd name="adj" fmla="val 2667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103120"/>
            <a:ext cx="53035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12000" dirty="0"/>
          </a:p>
        </p:txBody>
      </p:sp>
      <p:sp>
        <p:nvSpPr>
          <p:cNvPr id="7" name="Text 5"/>
          <p:cNvSpPr/>
          <p:nvPr/>
        </p:nvSpPr>
        <p:spPr>
          <a:xfrm>
            <a:off x="914400" y="402336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forgotten within a week without review.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52120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Ebbinghaus forgetting curve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26480" y="1828800"/>
            <a:ext cx="54864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09360" y="2057400"/>
            <a:ext cx="457200" cy="457200"/>
          </a:xfrm>
          <a:prstGeom prst="ellipse">
            <a:avLst/>
          </a:prstGeom>
          <a:solidFill>
            <a:srgbClr val="FFE4E6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2057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903720" y="19659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Scattered material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903720" y="22860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 in 3 notebooks, slides in Drive, PDFs in 6 tabs.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2852928"/>
            <a:ext cx="54864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09360" y="3081528"/>
            <a:ext cx="457200" cy="457200"/>
          </a:xfrm>
          <a:prstGeom prst="ellipse">
            <a:avLst/>
          </a:prstGeom>
          <a:solidFill>
            <a:srgbClr val="FFE4E6"/>
          </a:solidFill>
          <a:ln/>
        </p:spPr>
      </p:sp>
      <p:sp>
        <p:nvSpPr>
          <p:cNvPr id="16" name="Text 14"/>
          <p:cNvSpPr/>
          <p:nvPr/>
        </p:nvSpPr>
        <p:spPr>
          <a:xfrm>
            <a:off x="6309360" y="30815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903720" y="299008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Passive re-reading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903720" y="3310128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Feels productive but builds no long-term memory.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26480" y="3877056"/>
            <a:ext cx="54864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09360" y="4105656"/>
            <a:ext cx="457200" cy="457200"/>
          </a:xfrm>
          <a:prstGeom prst="ellipse">
            <a:avLst/>
          </a:prstGeom>
          <a:solidFill>
            <a:srgbClr val="FFE4E6"/>
          </a:solidFill>
          <a:ln/>
        </p:spPr>
      </p:sp>
      <p:sp>
        <p:nvSpPr>
          <p:cNvPr id="21" name="Text 19"/>
          <p:cNvSpPr/>
          <p:nvPr/>
        </p:nvSpPr>
        <p:spPr>
          <a:xfrm>
            <a:off x="6309360" y="41056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903720" y="4014216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Cramming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903720" y="4334256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Last-minute push → short-term recall, forgotten after exam.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126480" y="4901184"/>
            <a:ext cx="54864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09360" y="5129784"/>
            <a:ext cx="457200" cy="457200"/>
          </a:xfrm>
          <a:prstGeom prst="ellipse">
            <a:avLst/>
          </a:prstGeom>
          <a:solidFill>
            <a:srgbClr val="FFE4E6"/>
          </a:solidFill>
          <a:ln/>
        </p:spPr>
      </p:sp>
      <p:sp>
        <p:nvSpPr>
          <p:cNvPr id="26" name="Text 24"/>
          <p:cNvSpPr/>
          <p:nvPr/>
        </p:nvSpPr>
        <p:spPr>
          <a:xfrm>
            <a:off x="6309360" y="51297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903720" y="5038344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tools (Anki)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903720" y="5358384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Powerful but a 1998 UI and no AI card generation.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StudyLoop · React Batch 2029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9784080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22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SOLUTION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StudyLoop — three connected features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657600" cy="42976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828800"/>
            <a:ext cx="3657600" cy="10972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7" name="Shape 5"/>
          <p:cNvSpPr/>
          <p:nvPr/>
        </p:nvSpPr>
        <p:spPr>
          <a:xfrm>
            <a:off x="868680" y="2148840"/>
            <a:ext cx="502920" cy="502920"/>
          </a:xfrm>
          <a:prstGeom prst="ellipse">
            <a:avLst/>
          </a:prstGeom>
          <a:solidFill>
            <a:srgbClr val="EEF2FF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148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278892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Decks &amp; Cards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68680" y="32004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Organise your study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8680" y="3611880"/>
            <a:ext cx="31089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decks by subject or topic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Q/A cards manually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Optional: paste notes → AI generates cards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Edit, delete, search, filter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416552" y="1828800"/>
            <a:ext cx="3657600" cy="42976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16552" y="1828800"/>
            <a:ext cx="3657600" cy="10972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4" name="Shape 12"/>
          <p:cNvSpPr/>
          <p:nvPr/>
        </p:nvSpPr>
        <p:spPr>
          <a:xfrm>
            <a:off x="4736592" y="2148840"/>
            <a:ext cx="502920" cy="502920"/>
          </a:xfrm>
          <a:prstGeom prst="ellipse">
            <a:avLst/>
          </a:prstGeom>
          <a:solidFill>
            <a:srgbClr val="EEF2FF"/>
          </a:solidFill>
          <a:ln/>
        </p:spPr>
      </p:sp>
      <p:sp>
        <p:nvSpPr>
          <p:cNvPr id="15" name="Text 13"/>
          <p:cNvSpPr/>
          <p:nvPr/>
        </p:nvSpPr>
        <p:spPr>
          <a:xfrm>
            <a:off x="4736592" y="2148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736592" y="278892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Session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736592" y="32004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Spaced repetition (SM-2)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36592" y="3611880"/>
            <a:ext cx="31089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'Due today' queue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 cards, rate recall 1–4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schedules next review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Keyboard-driven for speed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284464" y="1828800"/>
            <a:ext cx="3657600" cy="42976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84464" y="1828800"/>
            <a:ext cx="3657600" cy="10972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1" name="Shape 19"/>
          <p:cNvSpPr/>
          <p:nvPr/>
        </p:nvSpPr>
        <p:spPr>
          <a:xfrm>
            <a:off x="8604504" y="2148840"/>
            <a:ext cx="502920" cy="502920"/>
          </a:xfrm>
          <a:prstGeom prst="ellipse">
            <a:avLst/>
          </a:prstGeom>
          <a:solidFill>
            <a:srgbClr val="EEF2FF"/>
          </a:solidFill>
          <a:ln/>
        </p:spPr>
      </p:sp>
      <p:sp>
        <p:nvSpPr>
          <p:cNvPr id="22" name="Text 20"/>
          <p:cNvSpPr/>
          <p:nvPr/>
        </p:nvSpPr>
        <p:spPr>
          <a:xfrm>
            <a:off x="8604504" y="2148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604504" y="278892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&amp; Stats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8604504" y="32004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your progress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604504" y="3611880"/>
            <a:ext cx="31089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+ longest streak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Mastery % per deck (chart)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14-day activity trend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8-week heatmap grid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StudyLoop · React Batch 2029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784080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22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USER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we're building for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303520" cy="41148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194560"/>
            <a:ext cx="1188720" cy="1188720"/>
          </a:xfrm>
          <a:prstGeom prst="ellipse">
            <a:avLst/>
          </a:prstGeom>
          <a:solidFill>
            <a:srgbClr val="EEF2FF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19456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2286000" y="22860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Riya, 19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2286000" y="27432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2nd-year engineering student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36576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Juggles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286000" y="36576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subjects · 3 exams/sem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41605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Studies 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286000" y="41605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 + phone (commute)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4400" y="46634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286000" y="4663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structure, not more content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14400" y="51663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286000" y="51663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setup-heavy tools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09360" y="182880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309360" y="2331720"/>
            <a:ext cx="53035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recall + spaced repetition is the most evidence-backed learning technique in cognitive science.
</a:t>
            </a:r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Yet 9 out of 10 students still rely on re-reading and highlighting — methods shown to be the weakest.
</a:t>
            </a:r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StudyLoop packages proven science into a simple daily routine: </a:t>
            </a:r>
            <a:pPr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app → clear today's queue → close.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StudyLoop · React Batch 2029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784080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22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STACK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 tools &amp; why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2743200" cy="4297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828800"/>
            <a:ext cx="2743200" cy="50292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8288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25146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288036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library — functional components + hooks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37033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406908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dev server, HMR, modern ESM build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77240" y="48920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Router v6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77240" y="525780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 routing + protected routes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429000" y="1828800"/>
            <a:ext cx="2743200" cy="4297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29000" y="1828800"/>
            <a:ext cx="2743200" cy="50292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6" name="Text 14"/>
          <p:cNvSpPr/>
          <p:nvPr/>
        </p:nvSpPr>
        <p:spPr>
          <a:xfrm>
            <a:off x="3429000" y="18288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57600" y="25146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Auth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657600" y="288036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Email/password + Google OAuth out of the box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57600" y="37033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Firestore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657600" y="406908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NoSQL DB with onSnapshot listeners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57600" y="48920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Rules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657600" y="525780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Per-document access control (user-scoped)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309360" y="1828800"/>
            <a:ext cx="2743200" cy="4297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09360" y="1828800"/>
            <a:ext cx="2743200" cy="50292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5" name="Text 23"/>
          <p:cNvSpPr/>
          <p:nvPr/>
        </p:nvSpPr>
        <p:spPr>
          <a:xfrm>
            <a:off x="6309360" y="18288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&amp; UX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537960" y="25146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537960" y="288036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Utility-first, dark mode, design tokens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537960" y="37033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Framer Motion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537960" y="406908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physics for card flip animation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537960" y="48920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Recharts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537960" y="525780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SVG charts for stats dashboard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9189720" y="1828800"/>
            <a:ext cx="2743200" cy="4297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189720" y="1828800"/>
            <a:ext cx="2743200" cy="50292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4" name="Text 32"/>
          <p:cNvSpPr/>
          <p:nvPr/>
        </p:nvSpPr>
        <p:spPr>
          <a:xfrm>
            <a:off x="9189720" y="18288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TOOLING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418320" y="25146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Lucide Icons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9418320" y="288036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SVG icon set (no emoji)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9418320" y="37033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9418320" y="406908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Zero-config deploy, preview URLs per branch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9418320" y="48920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GitHub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9418320" y="525780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Conventional commits, clean history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StudyLoop · React Batch 2029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9784080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22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DESIGN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Focused-Minimal visual system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 TOKENS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822960" cy="822960"/>
          </a:xfrm>
          <a:prstGeom prst="roundRect">
            <a:avLst>
              <a:gd name="adj" fmla="val 11111"/>
            </a:avLst>
          </a:prstGeom>
          <a:solidFill>
            <a:srgbClr val="4F46E5"/>
          </a:solidFill>
          <a:ln w="19050">
            <a:solidFill>
              <a:srgbClr val="6474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30632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32918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#4F46E5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508760" y="2194560"/>
            <a:ext cx="822960" cy="822960"/>
          </a:xfrm>
          <a:prstGeom prst="roundRect">
            <a:avLst>
              <a:gd name="adj" fmla="val 11111"/>
            </a:avLst>
          </a:prstGeom>
          <a:solidFill>
            <a:srgbClr val="10B981"/>
          </a:solidFill>
          <a:ln w="19050">
            <a:solidFill>
              <a:srgbClr val="64748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63040" y="30632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463040" y="32918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#10B981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468880" y="2194560"/>
            <a:ext cx="822960" cy="822960"/>
          </a:xfrm>
          <a:prstGeom prst="roundRect">
            <a:avLst>
              <a:gd name="adj" fmla="val 11111"/>
            </a:avLst>
          </a:prstGeom>
          <a:solidFill>
            <a:srgbClr val="F59E0B"/>
          </a:solidFill>
          <a:ln w="19050">
            <a:solidFill>
              <a:srgbClr val="64748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23160" y="30632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Streak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423160" y="32918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#F59E0B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429000" y="2194560"/>
            <a:ext cx="822960" cy="822960"/>
          </a:xfrm>
          <a:prstGeom prst="roundRect">
            <a:avLst>
              <a:gd name="adj" fmla="val 11111"/>
            </a:avLst>
          </a:prstGeom>
          <a:solidFill>
            <a:srgbClr val="F43F5E"/>
          </a:solidFill>
          <a:ln w="19050">
            <a:solidFill>
              <a:srgbClr val="64748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83280" y="30632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Danger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383280" y="32918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#F43F5E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389120" y="2194560"/>
            <a:ext cx="822960" cy="822960"/>
          </a:xfrm>
          <a:prstGeom prst="roundRect">
            <a:avLst>
              <a:gd name="adj" fmla="val 11111"/>
            </a:avLst>
          </a:prstGeom>
          <a:solidFill>
            <a:srgbClr val="0F172A"/>
          </a:solidFill>
          <a:ln w="19050">
            <a:solidFill>
              <a:srgbClr val="64748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43400" y="30632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343400" y="32918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#0F172A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349240" y="2194560"/>
            <a:ext cx="822960" cy="822960"/>
          </a:xfrm>
          <a:prstGeom prst="roundRect">
            <a:avLst>
              <a:gd name="adj" fmla="val 11111"/>
            </a:avLst>
          </a:prstGeom>
          <a:solidFill>
            <a:srgbClr val="E2E8F0"/>
          </a:solidFill>
          <a:ln w="19050">
            <a:solidFill>
              <a:srgbClr val="64748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03520" y="30632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303520" y="32918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#E2E8F0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492240" y="1828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TYPOGRAPHY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92240" y="2194560"/>
            <a:ext cx="512064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75120" y="233172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Jakarta Sans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6675120" y="283464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Headings · Bold · Tracks tight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675120" y="315468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 — crisp, neutral, readable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675120" y="347472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· 15–16pt · 1.5 line-height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48640" y="3931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PRINCIPLES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48640" y="4297680"/>
            <a:ext cx="544068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31520" y="4526280"/>
            <a:ext cx="411480" cy="411480"/>
          </a:xfrm>
          <a:prstGeom prst="ellipse">
            <a:avLst/>
          </a:prstGeom>
          <a:solidFill>
            <a:srgbClr val="EEF2FF"/>
          </a:solidFill>
          <a:ln/>
        </p:spPr>
      </p:sp>
      <p:sp>
        <p:nvSpPr>
          <p:cNvPr id="33" name="Text 31"/>
          <p:cNvSpPr/>
          <p:nvPr/>
        </p:nvSpPr>
        <p:spPr>
          <a:xfrm>
            <a:off x="731520" y="45262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280160" y="43891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+ dark mode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280160" y="470916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themes from day one — study happens at night.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172200" y="4297680"/>
            <a:ext cx="544068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355080" y="4526280"/>
            <a:ext cx="411480" cy="411480"/>
          </a:xfrm>
          <a:prstGeom prst="ellipse">
            <a:avLst/>
          </a:prstGeom>
          <a:solidFill>
            <a:srgbClr val="EEF2FF"/>
          </a:solidFill>
          <a:ln/>
        </p:spPr>
      </p:sp>
      <p:sp>
        <p:nvSpPr>
          <p:cNvPr id="38" name="Text 36"/>
          <p:cNvSpPr/>
          <p:nvPr/>
        </p:nvSpPr>
        <p:spPr>
          <a:xfrm>
            <a:off x="6355080" y="45262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903720" y="43891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 with meaning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903720" y="470916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150–250ms ease-out; spring only on card flip.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48640" y="5303520"/>
            <a:ext cx="544068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31520" y="5532120"/>
            <a:ext cx="411480" cy="411480"/>
          </a:xfrm>
          <a:prstGeom prst="ellipse">
            <a:avLst/>
          </a:prstGeom>
          <a:solidFill>
            <a:srgbClr val="EEF2FF"/>
          </a:solidFill>
          <a:ln/>
        </p:spPr>
      </p:sp>
      <p:sp>
        <p:nvSpPr>
          <p:cNvPr id="43" name="Text 41"/>
          <p:cNvSpPr/>
          <p:nvPr/>
        </p:nvSpPr>
        <p:spPr>
          <a:xfrm>
            <a:off x="731520" y="55321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1280160" y="53949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Keyboard-first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1280160" y="571500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action reachable without a mouse.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172200" y="5303520"/>
            <a:ext cx="544068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355080" y="5532120"/>
            <a:ext cx="411480" cy="411480"/>
          </a:xfrm>
          <a:prstGeom prst="ellipse">
            <a:avLst/>
          </a:prstGeom>
          <a:solidFill>
            <a:srgbClr val="EEF2FF"/>
          </a:solidFill>
          <a:ln/>
        </p:spPr>
      </p:sp>
      <p:sp>
        <p:nvSpPr>
          <p:cNvPr id="48" name="Text 46"/>
          <p:cNvSpPr/>
          <p:nvPr/>
        </p:nvSpPr>
        <p:spPr>
          <a:xfrm>
            <a:off x="6355080" y="55321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6903720" y="53949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CTA per screen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6903720" y="571500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indigo button; secondary outlined.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StudyLoop · React Batch 2029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9784080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22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DATA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Firestore collections &amp; relationships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2743200" cy="3520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828800"/>
            <a:ext cx="2743200" cy="5029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8288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users/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24231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272491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email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980944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displayName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3236976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streak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3493008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lastStudiedAt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74904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theme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429000" y="1828800"/>
            <a:ext cx="2743200" cy="3520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29000" y="1828800"/>
            <a:ext cx="2743200" cy="5029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6" name="Text 14"/>
          <p:cNvSpPr/>
          <p:nvPr/>
        </p:nvSpPr>
        <p:spPr>
          <a:xfrm>
            <a:off x="3611880" y="18288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decks/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611880" y="24231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deckId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611880" y="272491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userId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611880" y="2980944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title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611880" y="3236976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description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611880" y="3493008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color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611880" y="374904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createdAt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309360" y="1828800"/>
            <a:ext cx="2743200" cy="3520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09360" y="1828800"/>
            <a:ext cx="2743200" cy="5029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5" name="Text 23"/>
          <p:cNvSpPr/>
          <p:nvPr/>
        </p:nvSpPr>
        <p:spPr>
          <a:xfrm>
            <a:off x="6492240" y="18288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cards/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492240" y="24231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cardId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92240" y="272491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deckId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492240" y="2980944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userId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92240" y="3236976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question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492240" y="3493008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answer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492240" y="374904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ease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492240" y="400507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interval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492240" y="4261104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dueAt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492240" y="4517136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reps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492240" y="4773168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lapses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9189720" y="1828800"/>
            <a:ext cx="2743200" cy="3520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189720" y="1828800"/>
            <a:ext cx="2743200" cy="5029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8" name="Text 36"/>
          <p:cNvSpPr/>
          <p:nvPr/>
        </p:nvSpPr>
        <p:spPr>
          <a:xfrm>
            <a:off x="9372600" y="18288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reviews/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9372600" y="24231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reviewId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9372600" y="272491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userId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9372600" y="2980944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cardId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9372600" y="3236976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rating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9372600" y="3493008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reviewedAt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548640" y="5486400"/>
            <a:ext cx="11064240" cy="777240"/>
          </a:xfrm>
          <a:prstGeom prst="roundRect">
            <a:avLst>
              <a:gd name="adj" fmla="val 14118"/>
            </a:avLst>
          </a:prstGeom>
          <a:solidFill>
            <a:srgbClr val="EEF2FF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77240" y="55961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777240" y="5833872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Firestore Security Rules enforce request.auth.uid == resource.data.userId on every read and write — no user can ever see another user's decks, cards, or reviews.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StudyLoop · React Batch 2029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9784080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22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CONCEPTS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concepts → where each lives</a:t>
            </a:r>
            <a:endParaRPr lang="en-US" sz="3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6424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777240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spc="300" kern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CONCEPT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spc="300" kern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 USED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Functional components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file in /components and /pages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useState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Card form, auth forms, study session queue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useEffect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fetch, auth listener, theme sync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Props &amp; composition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Deck → DeckCard, Session → FlashCard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Conditional rendering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 gate, empty states, loading, errors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Lists &amp; keys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Decks grid, cards list, review history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Lifting state up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Study session owns rating, cards emit events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Controlled components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forms (deck, card, auth, settings)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 API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AuthContext · ThemeContext · ToastContext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 Router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routes, protected + dynamic /decks/:id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useMemo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Filtered decks, mastery % calc, due queue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useCallback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Handlers passed to memoised children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useRef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Focus card form on open, session timer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React.lazy + Suspense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/study, /stats, /settings lazy-loaded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 hooks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useAuth, useDecks, useCards, useStudySession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StudyLoop · React Batch 2029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9784080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22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PLAN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parts, ~2.5 hours focused build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2048256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2194560"/>
            <a:ext cx="502920" cy="502920"/>
          </a:xfrm>
          <a:prstGeom prst="ellipse">
            <a:avLst/>
          </a:prstGeom>
          <a:solidFill>
            <a:srgbClr val="EEF2FF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2194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13232" y="283464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Scaffold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13232" y="329184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10m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79776" y="2011680"/>
            <a:ext cx="2048256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44368" y="2194560"/>
            <a:ext cx="502920" cy="502920"/>
          </a:xfrm>
          <a:prstGeom prst="ellipse">
            <a:avLst/>
          </a:prstGeom>
          <a:solidFill>
            <a:srgbClr val="EEF2FF"/>
          </a:solidFill>
          <a:ln/>
        </p:spPr>
      </p:sp>
      <p:sp>
        <p:nvSpPr>
          <p:cNvPr id="12" name="Text 10"/>
          <p:cNvSpPr/>
          <p:nvPr/>
        </p:nvSpPr>
        <p:spPr>
          <a:xfrm>
            <a:off x="2944368" y="2194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944368" y="283464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wiring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944368" y="329184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5m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10912" y="2011680"/>
            <a:ext cx="2048256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175504" y="2194560"/>
            <a:ext cx="502920" cy="502920"/>
          </a:xfrm>
          <a:prstGeom prst="ellipse">
            <a:avLst/>
          </a:prstGeom>
          <a:solidFill>
            <a:srgbClr val="EEF2FF"/>
          </a:solidFill>
          <a:ln/>
        </p:spPr>
      </p:sp>
      <p:sp>
        <p:nvSpPr>
          <p:cNvPr id="17" name="Text 15"/>
          <p:cNvSpPr/>
          <p:nvPr/>
        </p:nvSpPr>
        <p:spPr>
          <a:xfrm>
            <a:off x="5175504" y="2194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175504" y="283464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175504" y="329184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15m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242048" y="2011680"/>
            <a:ext cx="2048256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406640" y="2194560"/>
            <a:ext cx="502920" cy="502920"/>
          </a:xfrm>
          <a:prstGeom prst="ellipse">
            <a:avLst/>
          </a:prstGeom>
          <a:solidFill>
            <a:srgbClr val="EEF2FF"/>
          </a:solidFill>
          <a:ln/>
        </p:spPr>
      </p:sp>
      <p:sp>
        <p:nvSpPr>
          <p:cNvPr id="22" name="Text 20"/>
          <p:cNvSpPr/>
          <p:nvPr/>
        </p:nvSpPr>
        <p:spPr>
          <a:xfrm>
            <a:off x="7406640" y="2194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406640" y="283464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+ Theme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406640" y="329184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15m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473184" y="2011680"/>
            <a:ext cx="2048256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637776" y="2194560"/>
            <a:ext cx="502920" cy="502920"/>
          </a:xfrm>
          <a:prstGeom prst="ellipse">
            <a:avLst/>
          </a:prstGeom>
          <a:solidFill>
            <a:srgbClr val="EEF2FF"/>
          </a:solidFill>
          <a:ln/>
        </p:spPr>
      </p:sp>
      <p:sp>
        <p:nvSpPr>
          <p:cNvPr id="27" name="Text 25"/>
          <p:cNvSpPr/>
          <p:nvPr/>
        </p:nvSpPr>
        <p:spPr>
          <a:xfrm>
            <a:off x="9637776" y="2194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637776" y="283464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Decks CRUD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637776" y="329184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15m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8640" y="4023360"/>
            <a:ext cx="2048256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13232" y="4206240"/>
            <a:ext cx="502920" cy="502920"/>
          </a:xfrm>
          <a:prstGeom prst="ellipse">
            <a:avLst/>
          </a:prstGeom>
          <a:solidFill>
            <a:srgbClr val="EEF2FF"/>
          </a:solidFill>
          <a:ln/>
        </p:spPr>
      </p:sp>
      <p:sp>
        <p:nvSpPr>
          <p:cNvPr id="32" name="Text 30"/>
          <p:cNvSpPr/>
          <p:nvPr/>
        </p:nvSpPr>
        <p:spPr>
          <a:xfrm>
            <a:off x="713232" y="4206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13232" y="484632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Cards CRUD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13232" y="530352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10m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779776" y="4023360"/>
            <a:ext cx="2048256" cy="1737360"/>
          </a:xfrm>
          <a:prstGeom prst="roundRect">
            <a:avLst>
              <a:gd name="adj" fmla="val 6316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944368" y="4206240"/>
            <a:ext cx="502920" cy="5029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7" name="Text 35"/>
          <p:cNvSpPr/>
          <p:nvPr/>
        </p:nvSpPr>
        <p:spPr>
          <a:xfrm>
            <a:off x="2944368" y="4206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2944368" y="484632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session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2944368" y="530352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20m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010912" y="4023360"/>
            <a:ext cx="2048256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175504" y="4206240"/>
            <a:ext cx="502920" cy="502920"/>
          </a:xfrm>
          <a:prstGeom prst="ellipse">
            <a:avLst/>
          </a:prstGeom>
          <a:solidFill>
            <a:srgbClr val="EEF2FF"/>
          </a:solidFill>
          <a:ln/>
        </p:spPr>
      </p:sp>
      <p:sp>
        <p:nvSpPr>
          <p:cNvPr id="42" name="Text 40"/>
          <p:cNvSpPr/>
          <p:nvPr/>
        </p:nvSpPr>
        <p:spPr>
          <a:xfrm>
            <a:off x="5175504" y="4206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5175504" y="484632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+ Stats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5175504" y="530352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15m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7242048" y="4023360"/>
            <a:ext cx="2048256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406640" y="4206240"/>
            <a:ext cx="502920" cy="502920"/>
          </a:xfrm>
          <a:prstGeom prst="ellipse">
            <a:avLst/>
          </a:prstGeom>
          <a:solidFill>
            <a:srgbClr val="EEF2FF"/>
          </a:solidFill>
          <a:ln/>
        </p:spPr>
      </p:sp>
      <p:sp>
        <p:nvSpPr>
          <p:cNvPr id="47" name="Text 45"/>
          <p:cNvSpPr/>
          <p:nvPr/>
        </p:nvSpPr>
        <p:spPr>
          <a:xfrm>
            <a:off x="7406640" y="4206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7406640" y="484632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Polish + A11y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7406640" y="530352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20m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9473184" y="4023360"/>
            <a:ext cx="2048256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9637776" y="4206240"/>
            <a:ext cx="502920" cy="502920"/>
          </a:xfrm>
          <a:prstGeom prst="ellipse">
            <a:avLst/>
          </a:prstGeom>
          <a:solidFill>
            <a:srgbClr val="EEF2FF"/>
          </a:solidFill>
          <a:ln/>
        </p:spPr>
      </p:sp>
      <p:sp>
        <p:nvSpPr>
          <p:cNvPr id="52" name="Text 50"/>
          <p:cNvSpPr/>
          <p:nvPr/>
        </p:nvSpPr>
        <p:spPr>
          <a:xfrm>
            <a:off x="9637776" y="4206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9637776" y="484632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 + Deploy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9637776" y="530352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15m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548640" y="6035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Part 7 (Study Session) is the centrepiece and will be demoed live.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StudyLoop · React Batch 2029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9784080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22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01 · SETUP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Scaffold &amp; design tokens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303520" cy="429768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01168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" y="2331720"/>
            <a:ext cx="4846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up the Vite + React project with Tailwind, routing, folder structure, and design tokens. Landing header renders with correct fonts and colours.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384048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" y="4160520"/>
            <a:ext cx="4846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boots with npm run dev and shows a styled landing header. Folder structure matches the rubric's /components, /pages, /hooks, /context, /services requirement.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544068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DEMO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" y="57150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 screen with StudyLoop brand and fonts.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0" y="1828800"/>
            <a:ext cx="5486400" cy="429768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5080" y="20116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FILES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355080" y="2331720"/>
            <a:ext cx="50292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▸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package.json, vite.config.js (path alias @/)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▸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tailwind.config.js (indigo, emerald, amber, slate tokens)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▸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index.css (base layer, typography, focus ring)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▸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src/{components, pages, hooks, context, services, lib, layouts}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▸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App.jsx, routes.jsx, main.jsx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55080" y="47548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CONCEPTS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355080" y="5074920"/>
            <a:ext cx="1645920" cy="310896"/>
          </a:xfrm>
          <a:prstGeom prst="roundRect">
            <a:avLst>
              <a:gd name="adj" fmla="val 17647"/>
            </a:avLst>
          </a:prstGeom>
          <a:solidFill>
            <a:srgbClr val="EEF2FF"/>
          </a:solidFill>
          <a:ln w="9525">
            <a:solidFill>
              <a:srgbClr val="4F46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55080" y="5074920"/>
            <a:ext cx="1645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components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092440" y="5074920"/>
            <a:ext cx="1645920" cy="310896"/>
          </a:xfrm>
          <a:prstGeom prst="roundRect">
            <a:avLst>
              <a:gd name="adj" fmla="val 17647"/>
            </a:avLst>
          </a:prstGeom>
          <a:solidFill>
            <a:srgbClr val="EEF2FF"/>
          </a:solidFill>
          <a:ln w="9525">
            <a:solidFill>
              <a:srgbClr val="4F46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92440" y="5074920"/>
            <a:ext cx="1645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Composition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StudyLoop · React Batch 2029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784080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22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02 · BACKEND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wiring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303520" cy="429768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01168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" y="2331720"/>
            <a:ext cx="4846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Firebase Auth + Firestore. Write security rules, seed script, and environment variable template. All services ready for feature work.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384048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" y="4160520"/>
            <a:ext cx="4846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Importing { db, auth } from services/firebase works throughout the app. Rules file is ready to paste into Firebase Console, and the seed script creates demo data on a single command.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544068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DEMO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" y="57150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Firestore console shows empty collections with rules active.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0" y="1828800"/>
            <a:ext cx="5486400" cy="429768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5080" y="20116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FILES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355080" y="2331720"/>
            <a:ext cx="50292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▸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.env.example, .env.local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▸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services/firebase.js (initialiseApp, auth, db)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▸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firestore.rules (owner-only per document)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▸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firestore.indexes.json (dueAt composite)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▸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scripts/seed.js (2 demo decks, 20 cards)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55080" y="47548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CONCEPTS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355080" y="5074920"/>
            <a:ext cx="1645920" cy="310896"/>
          </a:xfrm>
          <a:prstGeom prst="roundRect">
            <a:avLst>
              <a:gd name="adj" fmla="val 17647"/>
            </a:avLst>
          </a:prstGeom>
          <a:solidFill>
            <a:srgbClr val="EEF2FF"/>
          </a:solidFill>
          <a:ln w="9525">
            <a:solidFill>
              <a:srgbClr val="4F46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55080" y="5074920"/>
            <a:ext cx="1645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layer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092440" y="5074920"/>
            <a:ext cx="1645920" cy="310896"/>
          </a:xfrm>
          <a:prstGeom prst="roundRect">
            <a:avLst>
              <a:gd name="adj" fmla="val 17647"/>
            </a:avLst>
          </a:prstGeom>
          <a:solidFill>
            <a:srgbClr val="EEF2FF"/>
          </a:solidFill>
          <a:ln w="9525">
            <a:solidFill>
              <a:srgbClr val="4F46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92440" y="5074920"/>
            <a:ext cx="1645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StudyLoop · React Batch 2029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784080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03 · AUTH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303520" cy="429768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01168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" y="2331720"/>
            <a:ext cx="4846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Email/Password + Google OAuth with session persistence. Every app route gated by a ProtectedRoute wrapper. First-time signup creates user doc.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384048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" y="4160520"/>
            <a:ext cx="4846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can sign up, log out, log back in, refresh the page, and remain signed in. Google OAuth works. Unauthenticated users are redirected to /login.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544068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DEMO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" y="57150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signup → redirect → logout → re-login loop.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0" y="1828800"/>
            <a:ext cx="5486400" cy="429768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5080" y="20116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FILES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355080" y="2331720"/>
            <a:ext cx="50292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▸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pages/Login.jsx, pages/Signup.jsx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▸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context/AuthContext.jsx (user, loading, signIn, signOut)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▸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components/ProtectedRoute.jsx, PublicOnlyRoute.jsx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▸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services/auth.js (all Firebase auth calls)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▸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hooks/useAuth.js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55080" y="47548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CONCEPTS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355080" y="5074920"/>
            <a:ext cx="1645920" cy="310896"/>
          </a:xfrm>
          <a:prstGeom prst="roundRect">
            <a:avLst>
              <a:gd name="adj" fmla="val 17647"/>
            </a:avLst>
          </a:prstGeom>
          <a:solidFill>
            <a:srgbClr val="EEF2FF"/>
          </a:solidFill>
          <a:ln w="9525">
            <a:solidFill>
              <a:srgbClr val="4F46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55080" y="5074920"/>
            <a:ext cx="1645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API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092440" y="5074920"/>
            <a:ext cx="1645920" cy="310896"/>
          </a:xfrm>
          <a:prstGeom prst="roundRect">
            <a:avLst>
              <a:gd name="adj" fmla="val 17647"/>
            </a:avLst>
          </a:prstGeom>
          <a:solidFill>
            <a:srgbClr val="EEF2FF"/>
          </a:solidFill>
          <a:ln w="9525">
            <a:solidFill>
              <a:srgbClr val="4F46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92440" y="5074920"/>
            <a:ext cx="1645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useEffect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9829800" y="5074920"/>
            <a:ext cx="1645920" cy="310896"/>
          </a:xfrm>
          <a:prstGeom prst="roundRect">
            <a:avLst>
              <a:gd name="adj" fmla="val 17647"/>
            </a:avLst>
          </a:prstGeom>
          <a:solidFill>
            <a:srgbClr val="EEF2FF"/>
          </a:solidFill>
          <a:ln w="9525">
            <a:solidFill>
              <a:srgbClr val="4F46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829800" y="5074920"/>
            <a:ext cx="1645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forms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355080" y="5477256"/>
            <a:ext cx="1645920" cy="310896"/>
          </a:xfrm>
          <a:prstGeom prst="roundRect">
            <a:avLst>
              <a:gd name="adj" fmla="val 17647"/>
            </a:avLst>
          </a:prstGeom>
          <a:solidFill>
            <a:srgbClr val="EEF2FF"/>
          </a:solidFill>
          <a:ln w="9525">
            <a:solidFill>
              <a:srgbClr val="4F46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55080" y="5477256"/>
            <a:ext cx="1645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rendering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092440" y="5477256"/>
            <a:ext cx="1645920" cy="310896"/>
          </a:xfrm>
          <a:prstGeom prst="roundRect">
            <a:avLst>
              <a:gd name="adj" fmla="val 17647"/>
            </a:avLst>
          </a:prstGeom>
          <a:solidFill>
            <a:srgbClr val="EEF2FF"/>
          </a:solidFill>
          <a:ln w="9525">
            <a:solidFill>
              <a:srgbClr val="4F46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092440" y="5477256"/>
            <a:ext cx="1645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useState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StudyLoop · React Batch 2029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784080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22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04 · SHELL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layout &amp; theming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303520" cy="429768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01168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" y="2331720"/>
            <a:ext cx="4846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persistent app shell: sidebar (desktop) / bottom nav (mobile), top bar with streak + theme toggle, global toast system, and light/dark mode.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384048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" y="4160520"/>
            <a:ext cx="4846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responsive shell that works on 375px → 1440px. Theme toggle persists across reloads. Active route is highlighted in the nav.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544068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DEMO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" y="57150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 theme, resize window, navigate between placeholder pages.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0" y="1828800"/>
            <a:ext cx="5486400" cy="429768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5080" y="20116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FILES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355080" y="2331720"/>
            <a:ext cx="50292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▸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layouts/AppLayout.jsx (sidebar + top bar)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▸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context/ThemeContext.jsx (light | dark, localStorage + Firestore)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▸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components/{Spinner, EmptyState, ErrorBoundary, Toast}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▸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pages/NotFound.jsx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55080" y="47548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CONCEPTS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355080" y="5074920"/>
            <a:ext cx="1645920" cy="310896"/>
          </a:xfrm>
          <a:prstGeom prst="roundRect">
            <a:avLst>
              <a:gd name="adj" fmla="val 17647"/>
            </a:avLst>
          </a:prstGeom>
          <a:solidFill>
            <a:srgbClr val="EEF2FF"/>
          </a:solidFill>
          <a:ln w="9525">
            <a:solidFill>
              <a:srgbClr val="4F46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55080" y="5074920"/>
            <a:ext cx="1645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API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092440" y="5074920"/>
            <a:ext cx="1645920" cy="310896"/>
          </a:xfrm>
          <a:prstGeom prst="roundRect">
            <a:avLst>
              <a:gd name="adj" fmla="val 17647"/>
            </a:avLst>
          </a:prstGeom>
          <a:solidFill>
            <a:srgbClr val="EEF2FF"/>
          </a:solidFill>
          <a:ln w="9525">
            <a:solidFill>
              <a:srgbClr val="4F46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92440" y="5074920"/>
            <a:ext cx="1645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useEffect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9829800" y="5074920"/>
            <a:ext cx="1645920" cy="310896"/>
          </a:xfrm>
          <a:prstGeom prst="roundRect">
            <a:avLst>
              <a:gd name="adj" fmla="val 17647"/>
            </a:avLst>
          </a:prstGeom>
          <a:solidFill>
            <a:srgbClr val="EEF2FF"/>
          </a:solidFill>
          <a:ln w="9525">
            <a:solidFill>
              <a:srgbClr val="4F46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829800" y="5074920"/>
            <a:ext cx="1645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rendering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355080" y="5477256"/>
            <a:ext cx="1645920" cy="310896"/>
          </a:xfrm>
          <a:prstGeom prst="roundRect">
            <a:avLst>
              <a:gd name="adj" fmla="val 17647"/>
            </a:avLst>
          </a:prstGeom>
          <a:solidFill>
            <a:srgbClr val="EEF2FF"/>
          </a:solidFill>
          <a:ln w="9525">
            <a:solidFill>
              <a:srgbClr val="4F46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55080" y="5477256"/>
            <a:ext cx="1645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&amp; keys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StudyLoop · React Batch 2029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784080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22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05 · FEATURE 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Decks CRUD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303520" cy="429768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01168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" y="2331720"/>
            <a:ext cx="4846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create, read, update, and delete decks in real time. Grid view with search, sort, and colour-coded cards. Deck detail page.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384048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" y="4160520"/>
            <a:ext cx="4846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Create, rename, re-colour, and delete decks. Changes propagate across tabs in real time via onSnapshot. Search + sort respond instantly.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544068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DEMO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" y="57150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3 decks → rename one → delete another → confirm real-time update in a second tab.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0" y="1828800"/>
            <a:ext cx="5486400" cy="429768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5080" y="20116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FILES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355080" y="2331720"/>
            <a:ext cx="50292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▸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pages/Decks.jsx, pages/DeckDetail.jsx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▸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components/DeckCard.jsx, DeckForm.jsx, ConfirmDialog.jsx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▸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hooks/useDecks.js (onSnapshot listener)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▸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services/decks.js (createDeck, updateDeck, deleteDeck, listDecks)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55080" y="47548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CONCEPTS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355080" y="5074920"/>
            <a:ext cx="1645920" cy="310896"/>
          </a:xfrm>
          <a:prstGeom prst="roundRect">
            <a:avLst>
              <a:gd name="adj" fmla="val 17647"/>
            </a:avLst>
          </a:prstGeom>
          <a:solidFill>
            <a:srgbClr val="EEF2FF"/>
          </a:solidFill>
          <a:ln w="9525">
            <a:solidFill>
              <a:srgbClr val="4F46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55080" y="5074920"/>
            <a:ext cx="1645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useState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092440" y="5074920"/>
            <a:ext cx="1645920" cy="310896"/>
          </a:xfrm>
          <a:prstGeom prst="roundRect">
            <a:avLst>
              <a:gd name="adj" fmla="val 17647"/>
            </a:avLst>
          </a:prstGeom>
          <a:solidFill>
            <a:srgbClr val="EEF2FF"/>
          </a:solidFill>
          <a:ln w="9525">
            <a:solidFill>
              <a:srgbClr val="4F46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92440" y="5074920"/>
            <a:ext cx="1645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useEffect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9829800" y="5074920"/>
            <a:ext cx="1645920" cy="310896"/>
          </a:xfrm>
          <a:prstGeom prst="roundRect">
            <a:avLst>
              <a:gd name="adj" fmla="val 17647"/>
            </a:avLst>
          </a:prstGeom>
          <a:solidFill>
            <a:srgbClr val="EEF2FF"/>
          </a:solidFill>
          <a:ln w="9525">
            <a:solidFill>
              <a:srgbClr val="4F46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829800" y="5074920"/>
            <a:ext cx="1645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useMemo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355080" y="5477256"/>
            <a:ext cx="1645920" cy="310896"/>
          </a:xfrm>
          <a:prstGeom prst="roundRect">
            <a:avLst>
              <a:gd name="adj" fmla="val 17647"/>
            </a:avLst>
          </a:prstGeom>
          <a:solidFill>
            <a:srgbClr val="EEF2FF"/>
          </a:solidFill>
          <a:ln w="9525">
            <a:solidFill>
              <a:srgbClr val="4F46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55080" y="5477256"/>
            <a:ext cx="1645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&amp; keys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092440" y="5477256"/>
            <a:ext cx="1645920" cy="310896"/>
          </a:xfrm>
          <a:prstGeom prst="roundRect">
            <a:avLst>
              <a:gd name="adj" fmla="val 17647"/>
            </a:avLst>
          </a:prstGeom>
          <a:solidFill>
            <a:srgbClr val="EEF2FF"/>
          </a:solidFill>
          <a:ln w="9525">
            <a:solidFill>
              <a:srgbClr val="4F46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092440" y="5477256"/>
            <a:ext cx="1645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forms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829800" y="5477256"/>
            <a:ext cx="1645920" cy="310896"/>
          </a:xfrm>
          <a:prstGeom prst="roundRect">
            <a:avLst>
              <a:gd name="adj" fmla="val 17647"/>
            </a:avLst>
          </a:prstGeom>
          <a:solidFill>
            <a:srgbClr val="EEF2FF"/>
          </a:solidFill>
          <a:ln w="9525">
            <a:solidFill>
              <a:srgbClr val="4F46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829800" y="5477256"/>
            <a:ext cx="1645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StudyLoop · React Batch 2029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9784080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22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06 · FEATURE 1 cont.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Cards CRUD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303520" cy="429768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01168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" y="2331720"/>
            <a:ext cx="4846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a deck, add / edit / delete flashcards. Inline editing, keyboard shortcuts, and a bulk-paste helper that splits multi-line text into cards.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384048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" y="4160520"/>
            <a:ext cx="4846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10+ cards to a deck in under a minute. Cmd/Ctrl+Enter saves; bulk paste accepts 'Q: …\nA: …' blocks.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544068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DEMO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" y="57150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paste 5 cards → edit one inline → delete one.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0" y="1828800"/>
            <a:ext cx="5486400" cy="429768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5080" y="20116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FILES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355080" y="2331720"/>
            <a:ext cx="50292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▸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components/CardRow.jsx, CardForm.jsx, BulkPaste.jsx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▸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hooks/useCards.js (deck-scoped onSnapshot)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▸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services/cards.js (CRUD + batch write for bulk)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▸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lib/parsePaste.js (heuristic splitter)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55080" y="47548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CONCEPTS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355080" y="5074920"/>
            <a:ext cx="1645920" cy="310896"/>
          </a:xfrm>
          <a:prstGeom prst="roundRect">
            <a:avLst>
              <a:gd name="adj" fmla="val 17647"/>
            </a:avLst>
          </a:prstGeom>
          <a:solidFill>
            <a:srgbClr val="EEF2FF"/>
          </a:solidFill>
          <a:ln w="9525">
            <a:solidFill>
              <a:srgbClr val="4F46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55080" y="5074920"/>
            <a:ext cx="1645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useRef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092440" y="5074920"/>
            <a:ext cx="1645920" cy="310896"/>
          </a:xfrm>
          <a:prstGeom prst="roundRect">
            <a:avLst>
              <a:gd name="adj" fmla="val 17647"/>
            </a:avLst>
          </a:prstGeom>
          <a:solidFill>
            <a:srgbClr val="EEF2FF"/>
          </a:solidFill>
          <a:ln w="9525">
            <a:solidFill>
              <a:srgbClr val="4F46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92440" y="5074920"/>
            <a:ext cx="1645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useState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9829800" y="5074920"/>
            <a:ext cx="1645920" cy="310896"/>
          </a:xfrm>
          <a:prstGeom prst="roundRect">
            <a:avLst>
              <a:gd name="adj" fmla="val 17647"/>
            </a:avLst>
          </a:prstGeom>
          <a:solidFill>
            <a:srgbClr val="EEF2FF"/>
          </a:solidFill>
          <a:ln w="9525">
            <a:solidFill>
              <a:srgbClr val="4F46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829800" y="5074920"/>
            <a:ext cx="1645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forms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355080" y="5477256"/>
            <a:ext cx="1645920" cy="310896"/>
          </a:xfrm>
          <a:prstGeom prst="roundRect">
            <a:avLst>
              <a:gd name="adj" fmla="val 17647"/>
            </a:avLst>
          </a:prstGeom>
          <a:solidFill>
            <a:srgbClr val="EEF2FF"/>
          </a:solidFill>
          <a:ln w="9525">
            <a:solidFill>
              <a:srgbClr val="4F46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55080" y="5477256"/>
            <a:ext cx="1645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&amp; keys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092440" y="5477256"/>
            <a:ext cx="1645920" cy="310896"/>
          </a:xfrm>
          <a:prstGeom prst="roundRect">
            <a:avLst>
              <a:gd name="adj" fmla="val 17647"/>
            </a:avLst>
          </a:prstGeom>
          <a:solidFill>
            <a:srgbClr val="EEF2FF"/>
          </a:solidFill>
          <a:ln w="9525">
            <a:solidFill>
              <a:srgbClr val="4F46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092440" y="5477256"/>
            <a:ext cx="1645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useCallback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StudyLoop · React Batch 2029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784080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22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07 · FEATURE 2 (CORE)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session · SM-2 algorithm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303520" cy="429768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01168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" y="2331720"/>
            <a:ext cx="4846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centrepiece feature. Pull due cards, flip with a spring animation, rate recall, and let the SuperMemo-2 algorithm schedule the next review.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384048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" y="4160520"/>
            <a:ext cx="4846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study flow: due queue → flip → rate 1/2/3/4 → next card → completion summary with streak update. All keyboard-navigable.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544068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DEMO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" y="57150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a full session with keyboard only.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0" y="1828800"/>
            <a:ext cx="5486400" cy="429768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5080" y="20116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FILES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355080" y="2331720"/>
            <a:ext cx="50292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▸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pages/Study.jsx (/study/:deckId)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▸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components/FlashCard.jsx (Framer Motion flip)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▸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hooks/useStudySession.js (queue state machine)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▸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lib/sm2.js (pure algorithm, unit-testable)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▸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services/reviews.js (write review + update card)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55080" y="47548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CONCEPTS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355080" y="5074920"/>
            <a:ext cx="1645920" cy="310896"/>
          </a:xfrm>
          <a:prstGeom prst="roundRect">
            <a:avLst>
              <a:gd name="adj" fmla="val 17647"/>
            </a:avLst>
          </a:prstGeom>
          <a:solidFill>
            <a:srgbClr val="EEF2FF"/>
          </a:solidFill>
          <a:ln w="9525">
            <a:solidFill>
              <a:srgbClr val="4F46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55080" y="5074920"/>
            <a:ext cx="1645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useState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092440" y="5074920"/>
            <a:ext cx="1645920" cy="310896"/>
          </a:xfrm>
          <a:prstGeom prst="roundRect">
            <a:avLst>
              <a:gd name="adj" fmla="val 17647"/>
            </a:avLst>
          </a:prstGeom>
          <a:solidFill>
            <a:srgbClr val="EEF2FF"/>
          </a:solidFill>
          <a:ln w="9525">
            <a:solidFill>
              <a:srgbClr val="4F46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92440" y="5074920"/>
            <a:ext cx="1645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useEffect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9829800" y="5074920"/>
            <a:ext cx="1645920" cy="310896"/>
          </a:xfrm>
          <a:prstGeom prst="roundRect">
            <a:avLst>
              <a:gd name="adj" fmla="val 17647"/>
            </a:avLst>
          </a:prstGeom>
          <a:solidFill>
            <a:srgbClr val="EEF2FF"/>
          </a:solidFill>
          <a:ln w="9525">
            <a:solidFill>
              <a:srgbClr val="4F46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829800" y="5074920"/>
            <a:ext cx="1645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useCallback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355080" y="5477256"/>
            <a:ext cx="1645920" cy="310896"/>
          </a:xfrm>
          <a:prstGeom prst="roundRect">
            <a:avLst>
              <a:gd name="adj" fmla="val 17647"/>
            </a:avLst>
          </a:prstGeom>
          <a:solidFill>
            <a:srgbClr val="EEF2FF"/>
          </a:solidFill>
          <a:ln w="9525">
            <a:solidFill>
              <a:srgbClr val="4F46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55080" y="5477256"/>
            <a:ext cx="1645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useRef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092440" y="5477256"/>
            <a:ext cx="1645920" cy="310896"/>
          </a:xfrm>
          <a:prstGeom prst="roundRect">
            <a:avLst>
              <a:gd name="adj" fmla="val 17647"/>
            </a:avLst>
          </a:prstGeom>
          <a:solidFill>
            <a:srgbClr val="EEF2FF"/>
          </a:solidFill>
          <a:ln w="9525">
            <a:solidFill>
              <a:srgbClr val="4F46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092440" y="5477256"/>
            <a:ext cx="1645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Lifting state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829800" y="5477256"/>
            <a:ext cx="1645920" cy="310896"/>
          </a:xfrm>
          <a:prstGeom prst="roundRect">
            <a:avLst>
              <a:gd name="adj" fmla="val 17647"/>
            </a:avLst>
          </a:prstGeom>
          <a:solidFill>
            <a:srgbClr val="EEF2FF"/>
          </a:solidFill>
          <a:ln w="9525">
            <a:solidFill>
              <a:srgbClr val="4F46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829800" y="5477256"/>
            <a:ext cx="1645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hooks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StudyLoop · React Batch 2029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9784080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22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08 · FEATURE 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&amp; stats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303520" cy="429768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01168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" y="2331720"/>
            <a:ext cx="4846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screen with streak, due-today CTA, and recent decks. Stats page with mastery bar chart, 14-day activity line, and 8-week heatmap grid.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384048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" y="4160520"/>
            <a:ext cx="4846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Visually rich dashboard with Recharts. Streak and mastery update live as the user studies. Empty states for new users.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544068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DEMO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" y="57150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after a study session — streak +1, charts update.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0" y="1828800"/>
            <a:ext cx="5486400" cy="429768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5080" y="20116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FILES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355080" y="2331720"/>
            <a:ext cx="50292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▸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pages/Home.jsx, pages/Stats.jsx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▸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components/StreakBadge, DueTodayCard, MasteryChart, ActivityHeatmap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▸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hooks/useStats.js (aggregates reviews)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▸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lib/stats.js (streak + mastery calculations)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55080" y="47548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CONCEPTS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355080" y="5074920"/>
            <a:ext cx="1645920" cy="310896"/>
          </a:xfrm>
          <a:prstGeom prst="roundRect">
            <a:avLst>
              <a:gd name="adj" fmla="val 17647"/>
            </a:avLst>
          </a:prstGeom>
          <a:solidFill>
            <a:srgbClr val="EEF2FF"/>
          </a:solidFill>
          <a:ln w="9525">
            <a:solidFill>
              <a:srgbClr val="4F46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55080" y="5074920"/>
            <a:ext cx="1645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useMemo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092440" y="5074920"/>
            <a:ext cx="1645920" cy="310896"/>
          </a:xfrm>
          <a:prstGeom prst="roundRect">
            <a:avLst>
              <a:gd name="adj" fmla="val 17647"/>
            </a:avLst>
          </a:prstGeom>
          <a:solidFill>
            <a:srgbClr val="EEF2FF"/>
          </a:solidFill>
          <a:ln w="9525">
            <a:solidFill>
              <a:srgbClr val="4F46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92440" y="5074920"/>
            <a:ext cx="1645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useEffect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9829800" y="5074920"/>
            <a:ext cx="1645920" cy="310896"/>
          </a:xfrm>
          <a:prstGeom prst="roundRect">
            <a:avLst>
              <a:gd name="adj" fmla="val 17647"/>
            </a:avLst>
          </a:prstGeom>
          <a:solidFill>
            <a:srgbClr val="EEF2FF"/>
          </a:solidFill>
          <a:ln w="9525">
            <a:solidFill>
              <a:srgbClr val="4F46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829800" y="5074920"/>
            <a:ext cx="1645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&amp; keys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355080" y="5477256"/>
            <a:ext cx="1645920" cy="310896"/>
          </a:xfrm>
          <a:prstGeom prst="roundRect">
            <a:avLst>
              <a:gd name="adj" fmla="val 17647"/>
            </a:avLst>
          </a:prstGeom>
          <a:solidFill>
            <a:srgbClr val="EEF2FF"/>
          </a:solidFill>
          <a:ln w="9525">
            <a:solidFill>
              <a:srgbClr val="4F46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55080" y="5477256"/>
            <a:ext cx="1645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rendering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StudyLoop · React Batch 2029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784080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22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09 · QUALITY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Polish · AI · Settings · A11y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303520" cy="429768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01168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" y="2331720"/>
            <a:ext cx="4846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optional AI card generator, build the Settings page, lazy-load heavy routes, and complete a full accessibility sweep.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384048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" y="4160520"/>
            <a:ext cx="4846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generation works when an API key is set, degrades gracefully otherwise. Settings supports export + account deletion. All routes keyboard-accessible; contrast ≥ 4.5:1; prefers-reduced-motion respected.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544068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DEMO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" y="57150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notes → generate cards → review with screen-reader friendly nav.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0" y="1828800"/>
            <a:ext cx="5486400" cy="429768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5080" y="20116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FILES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355080" y="2331720"/>
            <a:ext cx="50292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▸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services/ai.js (Gemini call, graceful fallback)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▸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pages/Settings.jsx (profile, theme, export, delete)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▸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components/GenerateFromNotes.jsx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▸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App.jsx — React.lazy + Suspense for /study, /stats, /settings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55080" y="47548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CONCEPTS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355080" y="5074920"/>
            <a:ext cx="1645920" cy="310896"/>
          </a:xfrm>
          <a:prstGeom prst="roundRect">
            <a:avLst>
              <a:gd name="adj" fmla="val 17647"/>
            </a:avLst>
          </a:prstGeom>
          <a:solidFill>
            <a:srgbClr val="EEF2FF"/>
          </a:solidFill>
          <a:ln w="9525">
            <a:solidFill>
              <a:srgbClr val="4F46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55080" y="5074920"/>
            <a:ext cx="1645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React.lazy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092440" y="5074920"/>
            <a:ext cx="1645920" cy="310896"/>
          </a:xfrm>
          <a:prstGeom prst="roundRect">
            <a:avLst>
              <a:gd name="adj" fmla="val 17647"/>
            </a:avLst>
          </a:prstGeom>
          <a:solidFill>
            <a:srgbClr val="EEF2FF"/>
          </a:solidFill>
          <a:ln w="9525">
            <a:solidFill>
              <a:srgbClr val="4F46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92440" y="5074920"/>
            <a:ext cx="1645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Suspense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9829800" y="5074920"/>
            <a:ext cx="1645920" cy="310896"/>
          </a:xfrm>
          <a:prstGeom prst="roundRect">
            <a:avLst>
              <a:gd name="adj" fmla="val 17647"/>
            </a:avLst>
          </a:prstGeom>
          <a:solidFill>
            <a:srgbClr val="EEF2FF"/>
          </a:solidFill>
          <a:ln w="9525">
            <a:solidFill>
              <a:srgbClr val="4F46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829800" y="5074920"/>
            <a:ext cx="1645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useMemo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355080" y="5477256"/>
            <a:ext cx="1645920" cy="310896"/>
          </a:xfrm>
          <a:prstGeom prst="roundRect">
            <a:avLst>
              <a:gd name="adj" fmla="val 17647"/>
            </a:avLst>
          </a:prstGeom>
          <a:solidFill>
            <a:srgbClr val="EEF2FF"/>
          </a:solidFill>
          <a:ln w="9525">
            <a:solidFill>
              <a:srgbClr val="4F46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55080" y="5477256"/>
            <a:ext cx="1645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useCallback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092440" y="5477256"/>
            <a:ext cx="1645920" cy="310896"/>
          </a:xfrm>
          <a:prstGeom prst="roundRect">
            <a:avLst>
              <a:gd name="adj" fmla="val 17647"/>
            </a:avLst>
          </a:prstGeom>
          <a:solidFill>
            <a:srgbClr val="EEF2FF"/>
          </a:solidFill>
          <a:ln w="9525">
            <a:solidFill>
              <a:srgbClr val="4F46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092440" y="5477256"/>
            <a:ext cx="1645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hooks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StudyLoop · React Batch 2029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784080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22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10 · SHIP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 &amp; deploy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303520" cy="429768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01168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" y="2331720"/>
            <a:ext cx="4846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README, clean up commits, deploy to Vercel, and prepare the 3–5 minute demo video.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384048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" y="4160520"/>
            <a:ext cx="4846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URL on Vercel. Clean git history with conventional commits. README explains the problem, concepts used, and setup in under 2 minutes.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544068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DEMO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" y="57150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URL loaded on phone + desktop.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0" y="1828800"/>
            <a:ext cx="5486400" cy="429768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5080" y="20116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FILES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355080" y="2331720"/>
            <a:ext cx="50292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▸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README.md (problem, features, stack, setup, deploy)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▸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docs/SCREENSHOTS/*, docs/DEMO_SCRIPT.md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▸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.github/workflows/ci.yml (optional lint + build)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▸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vercel.json (env vars + SPA rewrite)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55080" y="47548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CONCEPTS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355080" y="5074920"/>
            <a:ext cx="1645920" cy="310896"/>
          </a:xfrm>
          <a:prstGeom prst="roundRect">
            <a:avLst>
              <a:gd name="adj" fmla="val 17647"/>
            </a:avLst>
          </a:prstGeom>
          <a:solidFill>
            <a:srgbClr val="EEF2FF"/>
          </a:solidFill>
          <a:ln w="9525">
            <a:solidFill>
              <a:srgbClr val="4F46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55080" y="5074920"/>
            <a:ext cx="1645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092440" y="5074920"/>
            <a:ext cx="1645920" cy="310896"/>
          </a:xfrm>
          <a:prstGeom prst="roundRect">
            <a:avLst>
              <a:gd name="adj" fmla="val 17647"/>
            </a:avLst>
          </a:prstGeom>
          <a:solidFill>
            <a:srgbClr val="EEF2FF"/>
          </a:solidFill>
          <a:ln w="9525">
            <a:solidFill>
              <a:srgbClr val="4F46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92440" y="5074920"/>
            <a:ext cx="1645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output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StudyLoop · React Batch 2029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784080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22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GRADING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each mark is earned</a:t>
            </a:r>
            <a:endParaRPr lang="en-US" sz="34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64240" cy="914400"/>
        </p:xfrm>
        <a:graphic>
          <a:graphicData uri="http://schemas.openxmlformats.org/drawingml/2006/table">
            <a:tbl>
              <a:tblPr/>
              <a:tblGrid>
                <a:gridCol w="3474720"/>
                <a:gridCol w="1280160"/>
                <a:gridCol w="630936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300" kern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CRITERIA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spc="300" kern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300" kern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WE EARN 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Problem Statement &amp; Idea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4F46E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Original AI + SM-2 combo, clear student user, non-trivial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 Fundamentals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4F46E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core + intermediate concept demonstrated (slide 9)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Advanced React Usage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4F46E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useMemo, useCallback, useRef, lazy/Suspense, custom hooks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 Integration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4F46E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Firebase Auth + Firestore + RLS + full CRUD across 3 collections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UI / UX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4F46E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 tokens, dark mode, responsive, keyboard nav, empty/loading/error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 Quality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4F46E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/components /pages /hooks /context /services · small files · clean commits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Functionality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4F46E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core features work end-to-end, handled edge cases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 &amp; Explanation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4F46E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Scripted 4-minute walkthrough hitting problem → stack → code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i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criteria covered by the 10-part plan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StudyLoop · React Batch 2029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9784080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22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48640"/>
            <a:ext cx="731520" cy="365760"/>
          </a:xfrm>
          <a:prstGeom prst="roundRect">
            <a:avLst>
              <a:gd name="adj" fmla="val 20000"/>
            </a:avLst>
          </a:prstGeom>
          <a:solidFill>
            <a:srgbClr val="4F46E5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4864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417320" y="5029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StudyLoop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210312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build it.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548640" y="3611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parts. One focused build. A portfolio-ready React app.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48640" y="4846320"/>
            <a:ext cx="3566160" cy="13716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9834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371600" y="49834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Firebase project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371600" y="534924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Email/Password, Google, Firestore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43400" y="4846320"/>
            <a:ext cx="3566160" cy="13716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17720" y="49834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166360" y="49834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firebaseConfig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166360" y="534924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.env.local before Part 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38160" y="4846320"/>
            <a:ext cx="3566160" cy="13716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12480" y="49834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961120" y="49834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“go”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961120" y="534924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start Part 1 immediately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StudyLoop · React Batch 2029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784080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React Batch 2029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StudyLoop — End-Term Project Plan</dc:title>
  <dc:subject>PptxGenJS Presentation</dc:subject>
  <dc:creator>StudyLoop Team</dc:creator>
  <cp:lastModifiedBy>StudyLoop Team</cp:lastModifiedBy>
  <cp:revision>1</cp:revision>
  <dcterms:created xsi:type="dcterms:W3CDTF">2026-04-18T11:49:14Z</dcterms:created>
  <dcterms:modified xsi:type="dcterms:W3CDTF">2026-04-18T11:49:14Z</dcterms:modified>
</cp:coreProperties>
</file>